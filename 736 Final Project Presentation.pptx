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nt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05ca816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05ca816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05ca816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05ca816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05ca816e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05ca816e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d10ae0b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d10ae0b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05ca816e9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05ca816e9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💡 </a:t>
            </a:r>
            <a:r>
              <a:rPr i="1" lang="en">
                <a:solidFill>
                  <a:schemeClr val="dk1"/>
                </a:solidFill>
              </a:rPr>
              <a:t>In the Industrial Age, machines took over physical labor—yet humans still needed the gym to stay strong.</a:t>
            </a:r>
            <a:r>
              <a:rPr lang="en">
                <a:solidFill>
                  <a:schemeClr val="dk1"/>
                </a:solidFill>
              </a:rPr>
              <a:t> 🧠 </a:t>
            </a:r>
            <a:r>
              <a:rPr i="1" lang="en">
                <a:solidFill>
                  <a:schemeClr val="dk1"/>
                </a:solidFill>
              </a:rPr>
              <a:t>In the AI Age, LLMs take over cognitive labor—yet humans still need a mental gym to stay sharp.</a:t>
            </a:r>
            <a:br>
              <a:rPr i="1" lang="en">
                <a:solidFill>
                  <a:schemeClr val="dk1"/>
                </a:solidFill>
              </a:rPr>
            </a:b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So the motivation is driven by curiosity - you would ask thing you are curiousu about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ceda283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ceda283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d10ae0b24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d10ae0b24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d10ae0b2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d10ae0b2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d10ae0b24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d10ae0b24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d10ae0b24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d10ae0b2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d10ae0b24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ad10ae0b24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d10ae0b24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d10ae0b24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ceda2838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aceda2838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d10ae0b24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d10ae0b24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05ca816e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a05ca816e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05ca816e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05ca816e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05ca816e9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05ca816e9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05ca816e9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a05ca816e9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05ca816e9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05ca816e9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type="title"/>
          </p:nvPr>
        </p:nvSpPr>
        <p:spPr>
          <a:xfrm>
            <a:off x="283850" y="177370"/>
            <a:ext cx="6683700" cy="137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/>
              <a:t>TutorBot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364" name="Google Shape;364;p47"/>
          <p:cNvSpPr txBox="1"/>
          <p:nvPr>
            <p:ph idx="4" type="title"/>
          </p:nvPr>
        </p:nvSpPr>
        <p:spPr>
          <a:xfrm>
            <a:off x="288625" y="4778975"/>
            <a:ext cx="4227300" cy="152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Ben Euto, Shahaan Khan, Vaibhav Deokar</a:t>
            </a:r>
            <a:endParaRPr sz="1100"/>
          </a:p>
        </p:txBody>
      </p:sp>
      <p:cxnSp>
        <p:nvCxnSpPr>
          <p:cNvPr id="365" name="Google Shape;365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6" name="Google Shape;3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50" y="2204000"/>
            <a:ext cx="3576700" cy="23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48" title="1754145414036.jfif"/>
          <p:cNvPicPr preferRelativeResize="0"/>
          <p:nvPr/>
        </p:nvPicPr>
        <p:blipFill rotWithShape="1">
          <a:blip r:embed="rId3">
            <a:alphaModFix/>
          </a:blip>
          <a:srcRect b="179" l="0" r="0" t="179"/>
          <a:stretch/>
        </p:blipFill>
        <p:spPr>
          <a:xfrm>
            <a:off x="6055800" y="2009575"/>
            <a:ext cx="1257900" cy="1253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372" name="Google Shape;372;p48" title="1756667272646.jfif"/>
          <p:cNvPicPr preferRelativeResize="0"/>
          <p:nvPr/>
        </p:nvPicPr>
        <p:blipFill rotWithShape="1">
          <a:blip r:embed="rId4">
            <a:alphaModFix/>
          </a:blip>
          <a:srcRect b="179" l="0" r="0" t="179"/>
          <a:stretch/>
        </p:blipFill>
        <p:spPr>
          <a:xfrm>
            <a:off x="3883125" y="2009575"/>
            <a:ext cx="1257900" cy="1253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73" name="Google Shape;373;p48"/>
          <p:cNvSpPr txBox="1"/>
          <p:nvPr/>
        </p:nvSpPr>
        <p:spPr>
          <a:xfrm>
            <a:off x="1833304" y="330976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Ben Euto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4" name="Google Shape;374;p48"/>
          <p:cNvSpPr txBox="1"/>
          <p:nvPr/>
        </p:nvSpPr>
        <p:spPr>
          <a:xfrm>
            <a:off x="3888664" y="330976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Shahaan Khan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6061357" y="330976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Vaibhav Deokar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6" name="Google Shape;376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77" name="Google Shape;377;p48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Team</a:t>
            </a:r>
            <a:endParaRPr b="1"/>
          </a:p>
        </p:txBody>
      </p:sp>
      <p:pic>
        <p:nvPicPr>
          <p:cNvPr id="378" name="Google Shape;378;p48" title="164859807386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750" y="2007325"/>
            <a:ext cx="1257900" cy="125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48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/>
          <p:nvPr/>
        </p:nvSpPr>
        <p:spPr>
          <a:xfrm>
            <a:off x="283650" y="1754925"/>
            <a:ext cx="8573100" cy="18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49"/>
          <p:cNvSpPr txBox="1"/>
          <p:nvPr>
            <p:ph type="title"/>
          </p:nvPr>
        </p:nvSpPr>
        <p:spPr>
          <a:xfrm>
            <a:off x="284850" y="474875"/>
            <a:ext cx="6834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Overview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Refresh</a:t>
            </a:r>
            <a:endParaRPr b="1"/>
          </a:p>
        </p:txBody>
      </p:sp>
      <p:sp>
        <p:nvSpPr>
          <p:cNvPr id="386" name="Google Shape;386;p49"/>
          <p:cNvSpPr txBox="1"/>
          <p:nvPr>
            <p:ph idx="1" type="body"/>
          </p:nvPr>
        </p:nvSpPr>
        <p:spPr>
          <a:xfrm>
            <a:off x="2516100" y="1754925"/>
            <a:ext cx="4227300" cy="18471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Take in user ChatGPT logs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Clean and </a:t>
            </a:r>
            <a:r>
              <a:rPr lang="en">
                <a:solidFill>
                  <a:schemeClr val="dk1"/>
                </a:solidFill>
              </a:rPr>
              <a:t>identify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recurring/common mistakes with writing style 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Develop a plan based on the weak areas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Follow through with weekly/bi-weekly check-ins with daily (adjustable) practice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Create a GUI to interface with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Track baseline and improvement metrics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7" name="Google Shape;387;p49"/>
          <p:cNvSpPr/>
          <p:nvPr/>
        </p:nvSpPr>
        <p:spPr>
          <a:xfrm rot="5400000">
            <a:off x="3185710" y="10304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8" name="Google Shape;388;p4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idx="6" type="subTitle"/>
          </p:nvPr>
        </p:nvSpPr>
        <p:spPr>
          <a:xfrm>
            <a:off x="4825775" y="1239084"/>
            <a:ext cx="38385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the Data and Identify Weak Points</a:t>
            </a:r>
            <a:endParaRPr/>
          </a:p>
        </p:txBody>
      </p:sp>
      <p:sp>
        <p:nvSpPr>
          <p:cNvPr id="396" name="Google Shape;396;p50"/>
          <p:cNvSpPr txBox="1"/>
          <p:nvPr>
            <p:ph idx="8" type="subTitle"/>
          </p:nvPr>
        </p:nvSpPr>
        <p:spPr>
          <a:xfrm>
            <a:off x="4825750" y="3207650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Weakness Report</a:t>
            </a:r>
            <a:endParaRPr/>
          </a:p>
        </p:txBody>
      </p:sp>
      <p:sp>
        <p:nvSpPr>
          <p:cNvPr id="397" name="Google Shape;397;p50"/>
          <p:cNvSpPr txBox="1"/>
          <p:nvPr>
            <p:ph idx="5" type="subTitle"/>
          </p:nvPr>
        </p:nvSpPr>
        <p:spPr>
          <a:xfrm>
            <a:off x="253800" y="1239083"/>
            <a:ext cx="38385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Uploads their ChatGPT Logs</a:t>
            </a:r>
            <a:endParaRPr/>
          </a:p>
        </p:txBody>
      </p:sp>
      <p:sp>
        <p:nvSpPr>
          <p:cNvPr id="398" name="Google Shape;398;p50"/>
          <p:cNvSpPr txBox="1"/>
          <p:nvPr>
            <p:ph idx="7" type="subTitle"/>
          </p:nvPr>
        </p:nvSpPr>
        <p:spPr>
          <a:xfrm>
            <a:off x="253800" y="3207656"/>
            <a:ext cx="38385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Through with Check-ins</a:t>
            </a:r>
            <a:endParaRPr/>
          </a:p>
        </p:txBody>
      </p:sp>
      <p:sp>
        <p:nvSpPr>
          <p:cNvPr id="399" name="Google Shape;399;p50"/>
          <p:cNvSpPr txBox="1"/>
          <p:nvPr>
            <p:ph idx="1" type="body"/>
          </p:nvPr>
        </p:nvSpPr>
        <p:spPr>
          <a:xfrm>
            <a:off x="253800" y="1996881"/>
            <a:ext cx="3838500" cy="6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Users export their ChatGPT logs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Users upload their ChatGPT logs to Tutorbot</a:t>
            </a:r>
            <a:endParaRPr sz="1300"/>
          </a:p>
        </p:txBody>
      </p:sp>
      <p:sp>
        <p:nvSpPr>
          <p:cNvPr id="400" name="Google Shape;400;p50"/>
          <p:cNvSpPr txBox="1"/>
          <p:nvPr>
            <p:ph idx="2" type="body"/>
          </p:nvPr>
        </p:nvSpPr>
        <p:spPr>
          <a:xfrm>
            <a:off x="4825750" y="1997188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Utilize Antropic API to create classification of errors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Compare to see what gives accurate results</a:t>
            </a:r>
            <a:endParaRPr sz="1300"/>
          </a:p>
        </p:txBody>
      </p:sp>
      <p:sp>
        <p:nvSpPr>
          <p:cNvPr id="401" name="Google Shape;401;p50"/>
          <p:cNvSpPr txBox="1"/>
          <p:nvPr>
            <p:ph idx="3" type="body"/>
          </p:nvPr>
        </p:nvSpPr>
        <p:spPr>
          <a:xfrm>
            <a:off x="4825750" y="356316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Based on the results from the clustering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Generate a guide on how to improve with set timelines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Establish a baseline</a:t>
            </a:r>
            <a:endParaRPr sz="1300"/>
          </a:p>
        </p:txBody>
      </p:sp>
      <p:sp>
        <p:nvSpPr>
          <p:cNvPr id="402" name="Google Shape;402;p50"/>
          <p:cNvSpPr txBox="1"/>
          <p:nvPr>
            <p:ph idx="4" type="body"/>
          </p:nvPr>
        </p:nvSpPr>
        <p:spPr>
          <a:xfrm>
            <a:off x="253800" y="3839563"/>
            <a:ext cx="38385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Create repeating time based check-in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Update the baseline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Actively update learning path</a:t>
            </a:r>
            <a:endParaRPr sz="1300"/>
          </a:p>
        </p:txBody>
      </p:sp>
      <p:sp>
        <p:nvSpPr>
          <p:cNvPr id="403" name="Google Shape;40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Goals: Expected Workflow</a:t>
            </a:r>
            <a:endParaRPr/>
          </a:p>
        </p:txBody>
      </p:sp>
      <p:sp>
        <p:nvSpPr>
          <p:cNvPr id="404" name="Google Shape;404;p50"/>
          <p:cNvSpPr/>
          <p:nvPr/>
        </p:nvSpPr>
        <p:spPr>
          <a:xfrm>
            <a:off x="3841825" y="1947963"/>
            <a:ext cx="954000" cy="75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50"/>
          <p:cNvSpPr/>
          <p:nvPr/>
        </p:nvSpPr>
        <p:spPr>
          <a:xfrm>
            <a:off x="8379400" y="2571750"/>
            <a:ext cx="681300" cy="10587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3841825" y="3630450"/>
            <a:ext cx="954000" cy="758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/>
          <p:nvPr/>
        </p:nvSpPr>
        <p:spPr>
          <a:xfrm>
            <a:off x="284850" y="286800"/>
            <a:ext cx="56712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Accomplishments</a:t>
            </a:r>
            <a:endParaRPr b="1"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51"/>
          <p:cNvSpPr txBox="1"/>
          <p:nvPr>
            <p:ph idx="5" type="body"/>
          </p:nvPr>
        </p:nvSpPr>
        <p:spPr>
          <a:xfrm>
            <a:off x="284850" y="971300"/>
            <a:ext cx="5543700" cy="30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We’ve created an entire UI for our application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Front-end and back-end constructed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Code can evaluate the entirety of a users ChatGPT logs to get results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Able to generate a report based on </a:t>
            </a:r>
            <a:r>
              <a:rPr lang="en" sz="1600"/>
              <a:t>punctuation</a:t>
            </a:r>
            <a:r>
              <a:rPr lang="en" sz="1600"/>
              <a:t>, spelling and </a:t>
            </a:r>
            <a:r>
              <a:rPr lang="en" sz="1600"/>
              <a:t>grammar</a:t>
            </a:r>
            <a:r>
              <a:rPr lang="en" sz="1600"/>
              <a:t> criteria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Time taken to evaluate all messages will depend on the number of messages you have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Can range from ~1-20 minutes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Low Cost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>
            <p:ph type="title"/>
          </p:nvPr>
        </p:nvSpPr>
        <p:spPr>
          <a:xfrm>
            <a:off x="283850" y="285900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We’re Evaluating</a:t>
            </a:r>
            <a:endParaRPr b="1"/>
          </a:p>
        </p:txBody>
      </p:sp>
      <p:sp>
        <p:nvSpPr>
          <p:cNvPr id="418" name="Google Shape;418;p52"/>
          <p:cNvSpPr txBox="1"/>
          <p:nvPr>
            <p:ph idx="3" type="title"/>
          </p:nvPr>
        </p:nvSpPr>
        <p:spPr>
          <a:xfrm>
            <a:off x="8856750" y="48201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19" name="Google Shape;419;p52"/>
          <p:cNvSpPr txBox="1"/>
          <p:nvPr>
            <p:ph idx="1" type="body"/>
          </p:nvPr>
        </p:nvSpPr>
        <p:spPr>
          <a:xfrm>
            <a:off x="284850" y="1555575"/>
            <a:ext cx="2668800" cy="30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Grammar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Examples of grammar issues include subject-verb disagreement and incorrect </a:t>
            </a:r>
            <a:r>
              <a:rPr lang="en" sz="1400"/>
              <a:t>pronoun usage</a:t>
            </a:r>
            <a:endParaRPr sz="1400"/>
          </a:p>
        </p:txBody>
      </p:sp>
      <p:sp>
        <p:nvSpPr>
          <p:cNvPr id="420" name="Google Shape;420;p52"/>
          <p:cNvSpPr txBox="1"/>
          <p:nvPr>
            <p:ph idx="4" type="body"/>
          </p:nvPr>
        </p:nvSpPr>
        <p:spPr>
          <a:xfrm>
            <a:off x="3384300" y="1555575"/>
            <a:ext cx="2701800" cy="30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Punctuation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Examples of punctuation issues include any missing commas or inconsistent sentence splices</a:t>
            </a:r>
            <a:endParaRPr sz="1400"/>
          </a:p>
        </p:txBody>
      </p:sp>
      <p:sp>
        <p:nvSpPr>
          <p:cNvPr id="421" name="Google Shape;421;p52"/>
          <p:cNvSpPr txBox="1"/>
          <p:nvPr>
            <p:ph idx="5" type="body"/>
          </p:nvPr>
        </p:nvSpPr>
        <p:spPr>
          <a:xfrm>
            <a:off x="6426900" y="1576725"/>
            <a:ext cx="2511300" cy="30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Tone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Examples of tone issues include sentences that are overly verbose or too casual for a professional context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53"/>
          <p:cNvGrpSpPr/>
          <p:nvPr/>
        </p:nvGrpSpPr>
        <p:grpSpPr>
          <a:xfrm>
            <a:off x="281975" y="1145226"/>
            <a:ext cx="8574858" cy="4070564"/>
            <a:chOff x="281982" y="2073250"/>
            <a:chExt cx="8574858" cy="2221075"/>
          </a:xfrm>
        </p:grpSpPr>
        <p:cxnSp>
          <p:nvCxnSpPr>
            <p:cNvPr id="427" name="Google Shape;427;p53"/>
            <p:cNvCxnSpPr/>
            <p:nvPr/>
          </p:nvCxnSpPr>
          <p:spPr>
            <a:xfrm>
              <a:off x="283839" y="2634200"/>
              <a:ext cx="856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8" name="Google Shape;428;p53"/>
            <p:cNvSpPr/>
            <p:nvPr/>
          </p:nvSpPr>
          <p:spPr>
            <a:xfrm>
              <a:off x="2457745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9" name="Google Shape;429;p53"/>
            <p:cNvSpPr/>
            <p:nvPr/>
          </p:nvSpPr>
          <p:spPr>
            <a:xfrm>
              <a:off x="281982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p53"/>
            <p:cNvSpPr txBox="1"/>
            <p:nvPr/>
          </p:nvSpPr>
          <p:spPr>
            <a:xfrm>
              <a:off x="284700" y="2891825"/>
              <a:ext cx="2054700" cy="12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Uses keyword matching to find writing-related messages 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Filters out obvious non-writing content (code, math, workouts, games)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Permissive strategy: keeps anything that might be writing-related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1" name="Google Shape;431;p53"/>
            <p:cNvSpPr/>
            <p:nvPr/>
          </p:nvSpPr>
          <p:spPr>
            <a:xfrm>
              <a:off x="4629757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2" name="Google Shape;432;p53"/>
            <p:cNvSpPr/>
            <p:nvPr/>
          </p:nvSpPr>
          <p:spPr>
            <a:xfrm>
              <a:off x="6801750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3" name="Google Shape;433;p53"/>
            <p:cNvSpPr txBox="1"/>
            <p:nvPr/>
          </p:nvSpPr>
          <p:spPr>
            <a:xfrm>
              <a:off x="284700" y="2073250"/>
              <a:ext cx="15501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Heuristic Filterin</a:t>
              </a: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g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4" name="Google Shape;434;p53"/>
            <p:cNvGrpSpPr/>
            <p:nvPr/>
          </p:nvGrpSpPr>
          <p:grpSpPr>
            <a:xfrm>
              <a:off x="8745240" y="2525627"/>
              <a:ext cx="111600" cy="217197"/>
              <a:chOff x="8675707" y="2525627"/>
              <a:chExt cx="111600" cy="217197"/>
            </a:xfrm>
          </p:grpSpPr>
          <p:cxnSp>
            <p:nvCxnSpPr>
              <p:cNvPr id="435" name="Google Shape;435;p53"/>
              <p:cNvCxnSpPr/>
              <p:nvPr/>
            </p:nvCxnSpPr>
            <p:spPr>
              <a:xfrm rot="10800000">
                <a:off x="8675707" y="2525627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" name="Google Shape;436;p53"/>
              <p:cNvCxnSpPr/>
              <p:nvPr/>
            </p:nvCxnSpPr>
            <p:spPr>
              <a:xfrm flipH="1">
                <a:off x="8675707" y="2631223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37" name="Google Shape;437;p53"/>
            <p:cNvSpPr txBox="1"/>
            <p:nvPr/>
          </p:nvSpPr>
          <p:spPr>
            <a:xfrm>
              <a:off x="2456700" y="2891825"/>
              <a:ext cx="2054700" cy="12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AI verifies each message from Step 1 is actually writing-related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Returns true/false for each message in batches of 10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Removes false positives that passed keyword filtering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8" name="Google Shape;438;p53"/>
            <p:cNvSpPr txBox="1"/>
            <p:nvPr/>
          </p:nvSpPr>
          <p:spPr>
            <a:xfrm>
              <a:off x="4629750" y="2891825"/>
              <a:ext cx="2054700" cy="14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AI scores each confirmed message on 3 dimensions (Grammar, Punctuation, Tone)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Provides 1-5 rating and lists specific issues for each message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Processes in batches of 10 messages per API call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p53"/>
            <p:cNvSpPr txBox="1"/>
            <p:nvPr/>
          </p:nvSpPr>
          <p:spPr>
            <a:xfrm>
              <a:off x="6801750" y="2891825"/>
              <a:ext cx="2054700" cy="11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AI analyzes all evaluations to find recurring patterns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Groups similar issues and ranks by frequency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Returns top 1-5 issues per category with severity ratings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0" name="Google Shape;440;p53"/>
            <p:cNvSpPr txBox="1"/>
            <p:nvPr/>
          </p:nvSpPr>
          <p:spPr>
            <a:xfrm>
              <a:off x="2456700" y="2073250"/>
              <a:ext cx="1576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LLM Confirmation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1" name="Google Shape;441;p53"/>
            <p:cNvSpPr txBox="1"/>
            <p:nvPr/>
          </p:nvSpPr>
          <p:spPr>
            <a:xfrm>
              <a:off x="4629750" y="2073250"/>
              <a:ext cx="1602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Scoring Each Chat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2" name="Google Shape;442;p53"/>
            <p:cNvSpPr txBox="1"/>
            <p:nvPr/>
          </p:nvSpPr>
          <p:spPr>
            <a:xfrm>
              <a:off x="6803475" y="2073250"/>
              <a:ext cx="16269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Identifying Recurring Patterns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3" name="Google Shape;443;p53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219900" y="72300"/>
            <a:ext cx="68697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1 - H</a:t>
            </a:r>
            <a:r>
              <a:rPr lang="en"/>
              <a:t>euristic Filtering</a:t>
            </a:r>
            <a:endParaRPr/>
          </a:p>
        </p:txBody>
      </p:sp>
      <p:pic>
        <p:nvPicPr>
          <p:cNvPr id="449" name="Google Shape;449;p54"/>
          <p:cNvPicPr preferRelativeResize="0"/>
          <p:nvPr/>
        </p:nvPicPr>
        <p:blipFill rotWithShape="1">
          <a:blip r:embed="rId3">
            <a:alphaModFix/>
          </a:blip>
          <a:srcRect b="0" l="0" r="0" t="23330"/>
          <a:stretch/>
        </p:blipFill>
        <p:spPr>
          <a:xfrm>
            <a:off x="194775" y="937950"/>
            <a:ext cx="4523875" cy="38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4"/>
          <p:cNvPicPr preferRelativeResize="0"/>
          <p:nvPr/>
        </p:nvPicPr>
        <p:blipFill rotWithShape="1">
          <a:blip r:embed="rId4">
            <a:alphaModFix/>
          </a:blip>
          <a:srcRect b="0" l="0" r="0" t="8734"/>
          <a:stretch/>
        </p:blipFill>
        <p:spPr>
          <a:xfrm>
            <a:off x="4709113" y="937950"/>
            <a:ext cx="4185876" cy="39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 txBox="1"/>
          <p:nvPr>
            <p:ph type="title"/>
          </p:nvPr>
        </p:nvSpPr>
        <p:spPr>
          <a:xfrm>
            <a:off x="167850" y="179100"/>
            <a:ext cx="88407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2 - LLM Confirmation</a:t>
            </a:r>
            <a:endParaRPr/>
          </a:p>
        </p:txBody>
      </p:sp>
      <p:pic>
        <p:nvPicPr>
          <p:cNvPr id="456" name="Google Shape;4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475" y="862650"/>
            <a:ext cx="6149211" cy="428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type="title"/>
          </p:nvPr>
        </p:nvSpPr>
        <p:spPr>
          <a:xfrm>
            <a:off x="167850" y="179100"/>
            <a:ext cx="89763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3 - Scoring Each Chat</a:t>
            </a:r>
            <a:endParaRPr/>
          </a:p>
        </p:txBody>
      </p:sp>
      <p:pic>
        <p:nvPicPr>
          <p:cNvPr id="462" name="Google Shape;46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2500"/>
            <a:ext cx="8839203" cy="395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 txBox="1"/>
          <p:nvPr>
            <p:ph type="title"/>
          </p:nvPr>
        </p:nvSpPr>
        <p:spPr>
          <a:xfrm>
            <a:off x="167850" y="179100"/>
            <a:ext cx="89763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Step 4 - Identifying Recurring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675" y="912125"/>
            <a:ext cx="7006801" cy="38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8"/>
          <p:cNvSpPr txBox="1"/>
          <p:nvPr>
            <p:ph type="title"/>
          </p:nvPr>
        </p:nvSpPr>
        <p:spPr>
          <a:xfrm>
            <a:off x="283850" y="285900"/>
            <a:ext cx="4227300" cy="2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Approach?</a:t>
            </a:r>
            <a:endParaRPr/>
          </a:p>
        </p:txBody>
      </p:sp>
      <p:sp>
        <p:nvSpPr>
          <p:cNvPr id="474" name="Google Shape;474;p58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Steps 2 &amp; 3 process 10 messages per API call instead of 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Single prompt evaluates multiple messages simultaneously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Reduces total API calls by 90% compared to individual message evaluation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5" name="Google Shape;475;p58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Step 4 analyzes all evaluations in one API call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Groups and ranks issues without re-reading messages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Avoids expensive per-message pattern detection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6" name="Google Shape;476;p58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Savings</a:t>
            </a:r>
            <a:endParaRPr/>
          </a:p>
        </p:txBody>
      </p:sp>
      <p:sp>
        <p:nvSpPr>
          <p:cNvPr id="477" name="Google Shape;477;p58"/>
          <p:cNvSpPr txBox="1"/>
          <p:nvPr>
            <p:ph idx="5" type="body"/>
          </p:nvPr>
        </p:nvSpPr>
        <p:spPr>
          <a:xfrm>
            <a:off x="288625" y="2891825"/>
            <a:ext cx="2050800" cy="21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Step 1 filters 60% of messages instantly without any API calls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Step 2 removes another 30% before expensive detailed evaluation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Only 40% of original messages reach the costly Step 3 scoring phase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8" name="Google Shape;478;p58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Process</a:t>
            </a:r>
            <a:endParaRPr/>
          </a:p>
        </p:txBody>
      </p:sp>
      <p:sp>
        <p:nvSpPr>
          <p:cNvPr id="479" name="Google Shape;479;p58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 Pattern Analysis</a:t>
            </a:r>
            <a:endParaRPr/>
          </a:p>
        </p:txBody>
      </p:sp>
      <p:sp>
        <p:nvSpPr>
          <p:cNvPr id="480" name="Google Shape;480;p58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Truncation Strategy</a:t>
            </a:r>
            <a:endParaRPr sz="3100"/>
          </a:p>
        </p:txBody>
      </p:sp>
      <p:sp>
        <p:nvSpPr>
          <p:cNvPr id="481" name="Google Shape;481;p58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Step 2 only sends first 800 characters of each message for confirmation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Full message text only sent in Step 3 after confirmation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/>
              <a:t>Saves ~50% of input tokens during confirmation stage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Flow</a:t>
            </a:r>
            <a:endParaRPr b="1"/>
          </a:p>
        </p:txBody>
      </p:sp>
      <p:sp>
        <p:nvSpPr>
          <p:cNvPr id="487" name="Google Shape;487;p59"/>
          <p:cNvSpPr txBox="1"/>
          <p:nvPr/>
        </p:nvSpPr>
        <p:spPr>
          <a:xfrm>
            <a:off x="284850" y="1106475"/>
            <a:ext cx="6347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Raw Chat Data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Extract &amp; Filter (4 stages)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Baseline Analysis (scores + issues)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Generate Practice Plan (targeted questions)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User Practices (3 sessions)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Track Progress (dashboard)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Re-Evaluate (measure real improvement)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8" name="Google Shape;498;p61"/>
          <p:cNvGrpSpPr/>
          <p:nvPr/>
        </p:nvGrpSpPr>
        <p:grpSpPr>
          <a:xfrm>
            <a:off x="284850" y="1360550"/>
            <a:ext cx="8571900" cy="3323430"/>
            <a:chOff x="284850" y="2002747"/>
            <a:chExt cx="8571900" cy="2681050"/>
          </a:xfrm>
        </p:grpSpPr>
        <p:sp>
          <p:nvSpPr>
            <p:cNvPr id="499" name="Google Shape;499;p61"/>
            <p:cNvSpPr txBox="1"/>
            <p:nvPr/>
          </p:nvSpPr>
          <p:spPr>
            <a:xfrm>
              <a:off x="284850" y="2002747"/>
              <a:ext cx="85143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Which approach will generate a more robust classification? </a:t>
              </a:r>
              <a:endParaRPr b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b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i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We have determined that the LLM API is the most effective classification but the most cost-effective solution would be to take a hybrid approach using multiple methods.</a:t>
              </a:r>
              <a:endParaRPr i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0" name="Google Shape;500;p61"/>
            <p:cNvSpPr txBox="1"/>
            <p:nvPr/>
          </p:nvSpPr>
          <p:spPr>
            <a:xfrm>
              <a:off x="284850" y="2673327"/>
              <a:ext cx="85143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</a:t>
              </a: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useful will the Weakness Report be?</a:t>
              </a:r>
              <a:endParaRPr b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i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The Weakness Report will be very useful given that we are using an extremely accurate model (ChatGPT) and only analyzing actual writing, not casual chat.</a:t>
              </a:r>
              <a:endParaRPr i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1" name="Google Shape;501;p61"/>
            <p:cNvSpPr txBox="1"/>
            <p:nvPr/>
          </p:nvSpPr>
          <p:spPr>
            <a:xfrm>
              <a:off x="284850" y="3343482"/>
              <a:ext cx="85143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What prompts will be the most effective to classify and generate clusters?</a:t>
              </a:r>
              <a:endParaRPr b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i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Prompts that are more professional and less casual will be the most effective to classify, hence why we’ve coded the model to only accept those kinds of prompts.</a:t>
              </a:r>
              <a:endParaRPr i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2" name="Google Shape;502;p61"/>
            <p:cNvSpPr txBox="1"/>
            <p:nvPr/>
          </p:nvSpPr>
          <p:spPr>
            <a:xfrm>
              <a:off x="284850" y="4013598"/>
              <a:ext cx="85719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Should the weaknesses only be restricted to writing </a:t>
              </a:r>
              <a:r>
                <a:rPr b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improvement?</a:t>
              </a:r>
              <a:endParaRPr b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i="1"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For the current iteration, it will be but future iterations will allow for additional weakness classification such as coding or life metrics</a:t>
              </a:r>
              <a:endParaRPr i="1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03" name="Google Shape;503;p61"/>
            <p:cNvCxnSpPr/>
            <p:nvPr/>
          </p:nvCxnSpPr>
          <p:spPr>
            <a:xfrm>
              <a:off x="284850" y="2003200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61"/>
            <p:cNvCxnSpPr/>
            <p:nvPr/>
          </p:nvCxnSpPr>
          <p:spPr>
            <a:xfrm>
              <a:off x="284850" y="2673333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61"/>
            <p:cNvCxnSpPr/>
            <p:nvPr/>
          </p:nvCxnSpPr>
          <p:spPr>
            <a:xfrm>
              <a:off x="284850" y="3343467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61"/>
            <p:cNvCxnSpPr/>
            <p:nvPr/>
          </p:nvCxnSpPr>
          <p:spPr>
            <a:xfrm>
              <a:off x="284850" y="4013600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61"/>
            <p:cNvCxnSpPr/>
            <p:nvPr/>
          </p:nvCxnSpPr>
          <p:spPr>
            <a:xfrm>
              <a:off x="284850" y="4683725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8" name="Google Shape;508;p61"/>
          <p:cNvSpPr txBox="1"/>
          <p:nvPr>
            <p:ph type="title"/>
          </p:nvPr>
        </p:nvSpPr>
        <p:spPr>
          <a:xfrm>
            <a:off x="284850" y="285900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Goals: Questions Re-answered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4" name="Google Shape;514;p62"/>
          <p:cNvGrpSpPr/>
          <p:nvPr/>
        </p:nvGrpSpPr>
        <p:grpSpPr>
          <a:xfrm>
            <a:off x="-2400" y="2002750"/>
            <a:ext cx="9146400" cy="2680975"/>
            <a:chOff x="-2400" y="2002750"/>
            <a:chExt cx="9146400" cy="2680975"/>
          </a:xfrm>
        </p:grpSpPr>
        <p:sp>
          <p:nvSpPr>
            <p:cNvPr id="515" name="Google Shape;515;p62"/>
            <p:cNvSpPr txBox="1"/>
            <p:nvPr/>
          </p:nvSpPr>
          <p:spPr>
            <a:xfrm>
              <a:off x="284850" y="2002750"/>
              <a:ext cx="53163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meaningful will the classifications be?</a:t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Given the accuracy of LLM classification and semantic classification, our hybrid classification approach will be very accurate and thus very meaningful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6" name="Google Shape;516;p62"/>
            <p:cNvSpPr txBox="1"/>
            <p:nvPr/>
          </p:nvSpPr>
          <p:spPr>
            <a:xfrm>
              <a:off x="284850" y="2673325"/>
              <a:ext cx="65754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What happens if a users data does not include any writing data?</a:t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The data will simply not be evaluated. It will be filtered out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7" name="Google Shape;517;p62"/>
            <p:cNvSpPr txBox="1"/>
            <p:nvPr/>
          </p:nvSpPr>
          <p:spPr>
            <a:xfrm>
              <a:off x="284850" y="3343475"/>
              <a:ext cx="3494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will we measure the re-testing once a baseline is 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achieved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?</a:t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The baseline will serve as a comparison for analysis.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8" name="Google Shape;518;p62"/>
            <p:cNvSpPr txBox="1"/>
            <p:nvPr/>
          </p:nvSpPr>
          <p:spPr>
            <a:xfrm>
              <a:off x="284850" y="3984075"/>
              <a:ext cx="84012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will we prevent 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errors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hallucinations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from 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occurring</a:t>
              </a:r>
              <a:r>
                <a:rPr b="1"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?</a:t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We 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filtered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each message as described in our 4 stage approach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b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19" name="Google Shape;519;p62"/>
            <p:cNvCxnSpPr/>
            <p:nvPr/>
          </p:nvCxnSpPr>
          <p:spPr>
            <a:xfrm>
              <a:off x="-2400" y="20032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62"/>
            <p:cNvCxnSpPr/>
            <p:nvPr/>
          </p:nvCxnSpPr>
          <p:spPr>
            <a:xfrm>
              <a:off x="-2400" y="2673333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62"/>
            <p:cNvCxnSpPr/>
            <p:nvPr/>
          </p:nvCxnSpPr>
          <p:spPr>
            <a:xfrm>
              <a:off x="-2400" y="3343467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62"/>
            <p:cNvCxnSpPr/>
            <p:nvPr/>
          </p:nvCxnSpPr>
          <p:spPr>
            <a:xfrm>
              <a:off x="-2400" y="398407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p62"/>
            <p:cNvCxnSpPr/>
            <p:nvPr/>
          </p:nvCxnSpPr>
          <p:spPr>
            <a:xfrm>
              <a:off x="-2400" y="46837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4" name="Google Shape;524;p62"/>
          <p:cNvSpPr txBox="1"/>
          <p:nvPr>
            <p:ph type="title"/>
          </p:nvPr>
        </p:nvSpPr>
        <p:spPr>
          <a:xfrm>
            <a:off x="151150" y="285900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Outcomes: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Did We Reach Them?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9" name="Google Shape;529;p63"/>
          <p:cNvCxnSpPr/>
          <p:nvPr/>
        </p:nvCxnSpPr>
        <p:spPr>
          <a:xfrm rot="10800000">
            <a:off x="-50" y="15520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63"/>
          <p:cNvCxnSpPr/>
          <p:nvPr/>
        </p:nvCxnSpPr>
        <p:spPr>
          <a:xfrm rot="10800000">
            <a:off x="-50" y="26362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63"/>
          <p:cNvCxnSpPr/>
          <p:nvPr/>
        </p:nvCxnSpPr>
        <p:spPr>
          <a:xfrm rot="10800000">
            <a:off x="-50" y="3716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63"/>
          <p:cNvCxnSpPr/>
          <p:nvPr/>
        </p:nvCxnSpPr>
        <p:spPr>
          <a:xfrm rot="10800000">
            <a:off x="-50" y="36065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63"/>
          <p:cNvCxnSpPr/>
          <p:nvPr/>
        </p:nvCxnSpPr>
        <p:spPr>
          <a:xfrm rot="10800000">
            <a:off x="-50" y="25258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63"/>
          <p:cNvSpPr txBox="1"/>
          <p:nvPr>
            <p:ph type="title"/>
          </p:nvPr>
        </p:nvSpPr>
        <p:spPr>
          <a:xfrm>
            <a:off x="283850" y="285900"/>
            <a:ext cx="5361900" cy="6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Conclusions</a:t>
            </a:r>
            <a:endParaRPr b="1"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3"/>
          <p:cNvSpPr txBox="1"/>
          <p:nvPr>
            <p:ph idx="6" type="subTitle"/>
          </p:nvPr>
        </p:nvSpPr>
        <p:spPr>
          <a:xfrm>
            <a:off x="288625" y="1555575"/>
            <a:ext cx="88554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Factoring LLM classification methods with a heuristic filtering is the most </a:t>
            </a:r>
            <a:r>
              <a:rPr lang="en"/>
              <a:t>efficient</a:t>
            </a:r>
            <a:r>
              <a:rPr lang="en"/>
              <a:t> and cost-effective course of action</a:t>
            </a:r>
            <a:endParaRPr/>
          </a:p>
        </p:txBody>
      </p:sp>
      <p:sp>
        <p:nvSpPr>
          <p:cNvPr id="536" name="Google Shape;536;p63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more messages processed, the longer it will take to process</a:t>
            </a:r>
            <a:endParaRPr/>
          </a:p>
        </p:txBody>
      </p:sp>
      <p:sp>
        <p:nvSpPr>
          <p:cNvPr id="537" name="Google Shape;537;p63"/>
          <p:cNvSpPr txBox="1"/>
          <p:nvPr>
            <p:ph idx="8" type="subTitle"/>
          </p:nvPr>
        </p:nvSpPr>
        <p:spPr>
          <a:xfrm>
            <a:off x="288625" y="3716975"/>
            <a:ext cx="83406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identify up top 5 issues in terms of grammar, tone, and punctuation and create a plan for improvement</a:t>
            </a:r>
            <a:endParaRPr/>
          </a:p>
        </p:txBody>
      </p:sp>
      <p:sp>
        <p:nvSpPr>
          <p:cNvPr id="538" name="Google Shape;538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9" name="Google Shape;539;p63"/>
          <p:cNvCxnSpPr/>
          <p:nvPr/>
        </p:nvCxnSpPr>
        <p:spPr>
          <a:xfrm rot="10800000">
            <a:off x="-50" y="46826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4" name="Google Shape;544;p64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64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64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64"/>
          <p:cNvSpPr txBox="1"/>
          <p:nvPr/>
        </p:nvSpPr>
        <p:spPr>
          <a:xfrm>
            <a:off x="284850" y="1440575"/>
            <a:ext cx="2056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 questions? Ask away!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64"/>
          <p:cNvSpPr txBox="1"/>
          <p:nvPr/>
        </p:nvSpPr>
        <p:spPr>
          <a:xfrm>
            <a:off x="284700" y="456375"/>
            <a:ext cx="2054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64"/>
          <p:cNvSpPr txBox="1"/>
          <p:nvPr/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64"/>
          <p:cNvSpPr txBox="1"/>
          <p:nvPr/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64"/>
          <p:cNvSpPr txBox="1"/>
          <p:nvPr/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64"/>
          <p:cNvSpPr txBox="1"/>
          <p:nvPr/>
        </p:nvSpPr>
        <p:spPr>
          <a:xfrm>
            <a:off x="288625" y="4778975"/>
            <a:ext cx="42273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3" name="Google Shape;55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988" y="667887"/>
            <a:ext cx="3223524" cy="37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Google Shape;558;p65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65"/>
          <p:cNvSpPr txBox="1"/>
          <p:nvPr>
            <p:ph type="title"/>
          </p:nvPr>
        </p:nvSpPr>
        <p:spPr>
          <a:xfrm>
            <a:off x="1287900" y="201782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60" name="Google Shape;560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